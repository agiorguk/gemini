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47769E-66E6-477B-8900-F5ADC1A9F70E}" v="9" dt="2020-10-01T11:16:41.5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7" d="100"/>
          <a:sy n="97" d="100"/>
        </p:scale>
        <p:origin x="90" y="24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Parslow" userId="2d5a4dcb-66ec-40ec-9cfd-332e1f8358b4" providerId="ADAL" clId="{E047769E-66E6-477B-8900-F5ADC1A9F70E}"/>
    <pc:docChg chg="custSel modSld">
      <pc:chgData name="Peter Parslow" userId="2d5a4dcb-66ec-40ec-9cfd-332e1f8358b4" providerId="ADAL" clId="{E047769E-66E6-477B-8900-F5ADC1A9F70E}" dt="2020-10-01T11:17:35.549" v="151" actId="1076"/>
      <pc:docMkLst>
        <pc:docMk/>
      </pc:docMkLst>
      <pc:sldChg chg="addSp modSp mod modAnim modNotesTx">
        <pc:chgData name="Peter Parslow" userId="2d5a4dcb-66ec-40ec-9cfd-332e1f8358b4" providerId="ADAL" clId="{E047769E-66E6-477B-8900-F5ADC1A9F70E}" dt="2020-10-01T11:17:35.549" v="151" actId="1076"/>
        <pc:sldMkLst>
          <pc:docMk/>
          <pc:sldMk cId="627257895" sldId="259"/>
        </pc:sldMkLst>
        <pc:spChg chg="add mod">
          <ac:chgData name="Peter Parslow" userId="2d5a4dcb-66ec-40ec-9cfd-332e1f8358b4" providerId="ADAL" clId="{E047769E-66E6-477B-8900-F5ADC1A9F70E}" dt="2020-10-01T11:16:27.709" v="144" actId="20577"/>
          <ac:spMkLst>
            <pc:docMk/>
            <pc:sldMk cId="627257895" sldId="259"/>
            <ac:spMk id="3" creationId="{484CEC06-9F02-4A57-9C4C-046F6DE172B0}"/>
          </ac:spMkLst>
        </pc:spChg>
        <pc:graphicFrameChg chg="modGraphic">
          <ac:chgData name="Peter Parslow" userId="2d5a4dcb-66ec-40ec-9cfd-332e1f8358b4" providerId="ADAL" clId="{E047769E-66E6-477B-8900-F5ADC1A9F70E}" dt="2020-10-01T11:17:19.806" v="149" actId="6549"/>
          <ac:graphicFrameMkLst>
            <pc:docMk/>
            <pc:sldMk cId="627257895" sldId="259"/>
            <ac:graphicFrameMk id="4" creationId="{96062447-74B4-43EE-80FD-08DC34E9952C}"/>
          </ac:graphicFrameMkLst>
        </pc:graphicFrameChg>
        <pc:graphicFrameChg chg="add mod modGraphic">
          <ac:chgData name="Peter Parslow" userId="2d5a4dcb-66ec-40ec-9cfd-332e1f8358b4" providerId="ADAL" clId="{E047769E-66E6-477B-8900-F5ADC1A9F70E}" dt="2020-10-01T11:17:29.309" v="150" actId="1076"/>
          <ac:graphicFrameMkLst>
            <pc:docMk/>
            <pc:sldMk cId="627257895" sldId="259"/>
            <ac:graphicFrameMk id="5" creationId="{B0486B9A-D303-422A-9F6C-734AC85F2450}"/>
          </ac:graphicFrameMkLst>
        </pc:graphicFrameChg>
        <pc:graphicFrameChg chg="add mod">
          <ac:chgData name="Peter Parslow" userId="2d5a4dcb-66ec-40ec-9cfd-332e1f8358b4" providerId="ADAL" clId="{E047769E-66E6-477B-8900-F5ADC1A9F70E}" dt="2020-10-01T11:17:35.549" v="151" actId="1076"/>
          <ac:graphicFrameMkLst>
            <pc:docMk/>
            <pc:sldMk cId="627257895" sldId="259"/>
            <ac:graphicFrameMk id="6" creationId="{52EE531B-50D5-4E07-94DE-5DF38122F93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FAFBC2-0C8B-41C2-A1C9-9332128B8BF3}" type="datetimeFigureOut">
              <a:rPr lang="en-GB" smtClean="0"/>
              <a:t>01/10/2020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89AA3-EF7A-466B-BF57-0B4AC8C411FF}" type="slidenum">
              <a:rPr lang="en-GB" smtClean="0"/>
              <a:t>‹#›</a:t>
            </a:fld>
            <a:endParaRPr lang="en-GB"/>
          </a:p>
        </p:txBody>
      </p:sp>
    </p:spTree>
    <p:extLst>
      <p:ext uri="{BB962C8B-B14F-4D97-AF65-F5344CB8AC3E}">
        <p14:creationId xmlns:p14="http://schemas.microsoft.com/office/powerpoint/2010/main" val="3009418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uidance.data.gov.uk/publish_and_manage_data/harvest_or_add_data/inspire/"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Right at the bottom of the guidance</a:t>
            </a:r>
          </a:p>
          <a:p>
            <a:r>
              <a:rPr lang="en-GB" dirty="0"/>
              <a:t>The “INSPIRE” link (</a:t>
            </a:r>
            <a:r>
              <a:rPr lang="en-GB" dirty="0">
                <a:hlinkClick r:id="rId3"/>
              </a:rPr>
              <a:t>https://guidance.data.gov.uk/publish_and_manage_data/harvest_or_add_data/inspire/</a:t>
            </a:r>
            <a:r>
              <a:rPr lang="en-GB" dirty="0"/>
              <a:t>)</a:t>
            </a:r>
          </a:p>
        </p:txBody>
      </p:sp>
      <p:sp>
        <p:nvSpPr>
          <p:cNvPr id="4" name="Slide Number Placeholder 3"/>
          <p:cNvSpPr>
            <a:spLocks noGrp="1"/>
          </p:cNvSpPr>
          <p:nvPr>
            <p:ph type="sldNum" sz="quarter" idx="5"/>
          </p:nvPr>
        </p:nvSpPr>
        <p:spPr/>
        <p:txBody>
          <a:bodyPr/>
          <a:lstStyle/>
          <a:p>
            <a:fld id="{3A589AA3-EF7A-466B-BF57-0B4AC8C411FF}" type="slidenum">
              <a:rPr lang="en-GB" smtClean="0"/>
              <a:t>2</a:t>
            </a:fld>
            <a:endParaRPr lang="en-GB"/>
          </a:p>
        </p:txBody>
      </p:sp>
    </p:spTree>
    <p:extLst>
      <p:ext uri="{BB962C8B-B14F-4D97-AF65-F5344CB8AC3E}">
        <p14:creationId xmlns:p14="http://schemas.microsoft.com/office/powerpoint/2010/main" val="3588813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GEMINI builds on ISO 19115 in a way that’s strongly influenced by INSPIRE</a:t>
            </a:r>
          </a:p>
        </p:txBody>
      </p:sp>
      <p:sp>
        <p:nvSpPr>
          <p:cNvPr id="4" name="Slide Number Placeholder 3"/>
          <p:cNvSpPr>
            <a:spLocks noGrp="1"/>
          </p:cNvSpPr>
          <p:nvPr>
            <p:ph type="sldNum" sz="quarter" idx="5"/>
          </p:nvPr>
        </p:nvSpPr>
        <p:spPr/>
        <p:txBody>
          <a:bodyPr/>
          <a:lstStyle/>
          <a:p>
            <a:fld id="{3A589AA3-EF7A-466B-BF57-0B4AC8C411FF}" type="slidenum">
              <a:rPr lang="en-GB" smtClean="0"/>
              <a:t>4</a:t>
            </a:fld>
            <a:endParaRPr lang="en-GB"/>
          </a:p>
        </p:txBody>
      </p:sp>
    </p:spTree>
    <p:extLst>
      <p:ext uri="{BB962C8B-B14F-4D97-AF65-F5344CB8AC3E}">
        <p14:creationId xmlns:p14="http://schemas.microsoft.com/office/powerpoint/2010/main" val="3703756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usual stuff…. </a:t>
            </a:r>
          </a:p>
        </p:txBody>
      </p:sp>
      <p:sp>
        <p:nvSpPr>
          <p:cNvPr id="4" name="Slide Number Placeholder 3"/>
          <p:cNvSpPr>
            <a:spLocks noGrp="1"/>
          </p:cNvSpPr>
          <p:nvPr>
            <p:ph type="sldNum" sz="quarter" idx="5"/>
          </p:nvPr>
        </p:nvSpPr>
        <p:spPr/>
        <p:txBody>
          <a:bodyPr/>
          <a:lstStyle/>
          <a:p>
            <a:fld id="{3A589AA3-EF7A-466B-BF57-0B4AC8C411FF}" type="slidenum">
              <a:rPr lang="en-GB" smtClean="0"/>
              <a:t>5</a:t>
            </a:fld>
            <a:endParaRPr lang="en-GB"/>
          </a:p>
        </p:txBody>
      </p:sp>
    </p:spTree>
    <p:extLst>
      <p:ext uri="{BB962C8B-B14F-4D97-AF65-F5344CB8AC3E}">
        <p14:creationId xmlns:p14="http://schemas.microsoft.com/office/powerpoint/2010/main" val="1010189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8D55B-0BC6-4C23-930E-403DBB85DF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6CEF255-BC83-47F8-A7CE-129CE6A99C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CE7219-CF1E-4B89-A717-D7B27AF7DBF6}"/>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5" name="Footer Placeholder 4">
            <a:extLst>
              <a:ext uri="{FF2B5EF4-FFF2-40B4-BE49-F238E27FC236}">
                <a16:creationId xmlns:a16="http://schemas.microsoft.com/office/drawing/2014/main" id="{DEE1ED72-BED5-4178-ACD9-20B58B7398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4BFE76-D2A7-4545-B224-DAB38E35D39F}"/>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286219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84B9-738B-407A-929A-958B2A2AB68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CBE0B9-FF19-45B4-ADA4-D6267EBB41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C72EF4-DDF4-481B-A3D2-1061C8D62C8F}"/>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5" name="Footer Placeholder 4">
            <a:extLst>
              <a:ext uri="{FF2B5EF4-FFF2-40B4-BE49-F238E27FC236}">
                <a16:creationId xmlns:a16="http://schemas.microsoft.com/office/drawing/2014/main" id="{40B92FB3-5095-4B22-9C51-5D1962E111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9DA8CF8-7439-4620-B251-C638AFC09130}"/>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2337285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29442-5C99-4E60-BD1A-0DFC8CEE6E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19B20D6-01C7-4DAD-9D1E-E773905FFF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920F81-F100-438C-B9C1-CD0A331F646C}"/>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5" name="Footer Placeholder 4">
            <a:extLst>
              <a:ext uri="{FF2B5EF4-FFF2-40B4-BE49-F238E27FC236}">
                <a16:creationId xmlns:a16="http://schemas.microsoft.com/office/drawing/2014/main" id="{BC7308E3-EC25-4E9E-86E3-4C0B26D67B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AC0EC1B-F152-4E92-81A2-85B9D23C2AD0}"/>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1642424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F5286-21B3-460D-B174-58AFC0B70E3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E4B0EC5-1662-4587-9B8D-029C348411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8A0D780-838C-4959-A951-3FC6511143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5B0C01B-6D06-4092-A329-5C3B9113DB2F}"/>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6" name="Footer Placeholder 5">
            <a:extLst>
              <a:ext uri="{FF2B5EF4-FFF2-40B4-BE49-F238E27FC236}">
                <a16:creationId xmlns:a16="http://schemas.microsoft.com/office/drawing/2014/main" id="{32E3E8AF-4A68-44A1-8876-8F83F5BD55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E12C41-B912-48F4-8D07-7CB03351BAF2}"/>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279528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5F90A-3BAD-4274-864A-8B0C2A98CEC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9F63CDC-26D0-4A71-BBDE-CDA22511C6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D39C1C-1BBB-4BB1-A1FF-6AD0854E54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C0B99C9-3A68-4F4B-8D8E-92F622BB97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56E7B6-8080-4381-BAF1-AC5A1E325A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43C449A-0050-49BC-AAB1-1009F2DE05AE}"/>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8" name="Footer Placeholder 7">
            <a:extLst>
              <a:ext uri="{FF2B5EF4-FFF2-40B4-BE49-F238E27FC236}">
                <a16:creationId xmlns:a16="http://schemas.microsoft.com/office/drawing/2014/main" id="{F83D8D1E-1C19-408C-994A-C53299A771D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F54EA0D-00CD-435B-8FB8-A444CF9BE746}"/>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313152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ECF05-FB0B-4342-826B-AD38D8CD9B7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994C291-B8BA-47D5-9140-EFEB66ED771B}"/>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4" name="Footer Placeholder 3">
            <a:extLst>
              <a:ext uri="{FF2B5EF4-FFF2-40B4-BE49-F238E27FC236}">
                <a16:creationId xmlns:a16="http://schemas.microsoft.com/office/drawing/2014/main" id="{272578EC-99FD-4B3B-849F-2A46D3D435E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2AABCD9-8000-48FA-9AFE-049C3CC77348}"/>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3324527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9DD3E3-150E-4965-B90E-B659AE1905D1}"/>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3" name="Footer Placeholder 2">
            <a:extLst>
              <a:ext uri="{FF2B5EF4-FFF2-40B4-BE49-F238E27FC236}">
                <a16:creationId xmlns:a16="http://schemas.microsoft.com/office/drawing/2014/main" id="{F1702C22-380A-4726-BD0F-651F890A537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2A1C798-79A0-47F9-B210-AC5A9D5C28B9}"/>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4272739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89B0D-D854-4B6D-A4B1-61AAF10CC2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96646A-B466-49C3-8400-83A1082AC1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9B98C8D-9FD8-4EBA-9136-6E4A1F970F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A6AB86-945F-47EC-9081-CBD42E7A8669}"/>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6" name="Footer Placeholder 5">
            <a:extLst>
              <a:ext uri="{FF2B5EF4-FFF2-40B4-BE49-F238E27FC236}">
                <a16:creationId xmlns:a16="http://schemas.microsoft.com/office/drawing/2014/main" id="{E64EF8D2-9858-4F72-BD8A-6B2159EB866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FD4A8D4-54C1-41BA-A846-C17874F6F8AA}"/>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2364576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88FF5-BBD1-4EB9-8978-3137EB7B5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3D9315C-E393-4D8C-8F9A-39AC82B3D0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8F8B685-4DE6-4888-B2FF-B602951CB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B40760-39EE-4489-9413-972D87E28A14}"/>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6" name="Footer Placeholder 5">
            <a:extLst>
              <a:ext uri="{FF2B5EF4-FFF2-40B4-BE49-F238E27FC236}">
                <a16:creationId xmlns:a16="http://schemas.microsoft.com/office/drawing/2014/main" id="{03FD6D57-3A50-4023-9898-185ADA1F8CB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6D8071-17BA-490E-A6BD-E150439D1B46}"/>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52754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10A1C-D705-4114-8A8C-01C116D2880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ED841FD-A178-4EB0-87B5-9DEAA68B7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909306-557D-47E1-9A59-85DF7341ADDA}"/>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5" name="Footer Placeholder 4">
            <a:extLst>
              <a:ext uri="{FF2B5EF4-FFF2-40B4-BE49-F238E27FC236}">
                <a16:creationId xmlns:a16="http://schemas.microsoft.com/office/drawing/2014/main" id="{0535AD06-124E-4D10-88F3-3602A82E60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520C62-79DE-49EB-A61C-2F424887005F}"/>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1290111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934E6E-7A41-4918-A2B2-C7090A4294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85DB83-50B5-4C8B-BAC3-3AA11E0E5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78E729-9932-430B-8397-F16B543A57A7}"/>
              </a:ext>
            </a:extLst>
          </p:cNvPr>
          <p:cNvSpPr>
            <a:spLocks noGrp="1"/>
          </p:cNvSpPr>
          <p:nvPr>
            <p:ph type="dt" sz="half" idx="10"/>
          </p:nvPr>
        </p:nvSpPr>
        <p:spPr/>
        <p:txBody>
          <a:bodyPr/>
          <a:lstStyle/>
          <a:p>
            <a:fld id="{CC157FE6-06DF-4DA0-875F-D9DA6AA802B8}" type="datetimeFigureOut">
              <a:rPr lang="en-GB" smtClean="0"/>
              <a:t>01/10/2020</a:t>
            </a:fld>
            <a:endParaRPr lang="en-GB"/>
          </a:p>
        </p:txBody>
      </p:sp>
      <p:sp>
        <p:nvSpPr>
          <p:cNvPr id="5" name="Footer Placeholder 4">
            <a:extLst>
              <a:ext uri="{FF2B5EF4-FFF2-40B4-BE49-F238E27FC236}">
                <a16:creationId xmlns:a16="http://schemas.microsoft.com/office/drawing/2014/main" id="{9C890DD2-3637-4FC8-8DEF-69FE92F9602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589AC5-7615-4388-969C-4A720CC281E4}"/>
              </a:ext>
            </a:extLst>
          </p:cNvPr>
          <p:cNvSpPr>
            <a:spLocks noGrp="1"/>
          </p:cNvSpPr>
          <p:nvPr>
            <p:ph type="sldNum" sz="quarter" idx="12"/>
          </p:nvPr>
        </p:nvSpPr>
        <p:spPr/>
        <p:txBody>
          <a:bodyPr/>
          <a:lstStyle/>
          <a:p>
            <a:fld id="{7A7F2F29-2F56-44DB-9D4F-F6370B93ABD8}" type="slidenum">
              <a:rPr lang="en-GB" smtClean="0"/>
              <a:t>‹#›</a:t>
            </a:fld>
            <a:endParaRPr lang="en-GB"/>
          </a:p>
        </p:txBody>
      </p:sp>
    </p:spTree>
    <p:extLst>
      <p:ext uri="{BB962C8B-B14F-4D97-AF65-F5344CB8AC3E}">
        <p14:creationId xmlns:p14="http://schemas.microsoft.com/office/powerpoint/2010/main" val="3977737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00FC8-75EE-4998-827D-1359D44F70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B6C5AF1-E1D1-4A4F-9031-0F89CD8356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7BD89C3-3893-4270-B5EC-948DE83EB7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157FE6-06DF-4DA0-875F-D9DA6AA802B8}" type="datetimeFigureOut">
              <a:rPr lang="en-GB" smtClean="0"/>
              <a:t>01/10/2020</a:t>
            </a:fld>
            <a:endParaRPr lang="en-GB"/>
          </a:p>
        </p:txBody>
      </p:sp>
      <p:sp>
        <p:nvSpPr>
          <p:cNvPr id="5" name="Footer Placeholder 4">
            <a:extLst>
              <a:ext uri="{FF2B5EF4-FFF2-40B4-BE49-F238E27FC236}">
                <a16:creationId xmlns:a16="http://schemas.microsoft.com/office/drawing/2014/main" id="{3DF05933-BE70-4FC9-B3AB-CDE2C22E09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00F0FD9-4970-4C07-9EB8-CDC4110062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7F2F29-2F56-44DB-9D4F-F6370B93ABD8}" type="slidenum">
              <a:rPr lang="en-GB" smtClean="0"/>
              <a:t>‹#›</a:t>
            </a:fld>
            <a:endParaRPr lang="en-GB"/>
          </a:p>
        </p:txBody>
      </p:sp>
    </p:spTree>
    <p:extLst>
      <p:ext uri="{BB962C8B-B14F-4D97-AF65-F5344CB8AC3E}">
        <p14:creationId xmlns:p14="http://schemas.microsoft.com/office/powerpoint/2010/main" val="793521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uidance.data.gov.uk/publish_and_manage_data/harvest_or_add_data/inspir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iki.osgeo.org/wiki/Metadata_software"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9E8E7-A302-4311-B85E-A97D35AAC4F9}"/>
              </a:ext>
            </a:extLst>
          </p:cNvPr>
          <p:cNvSpPr>
            <a:spLocks noGrp="1"/>
          </p:cNvSpPr>
          <p:nvPr>
            <p:ph type="ctrTitle"/>
          </p:nvPr>
        </p:nvSpPr>
        <p:spPr/>
        <p:txBody>
          <a:bodyPr/>
          <a:lstStyle/>
          <a:p>
            <a:r>
              <a:rPr lang="en-GB" dirty="0"/>
              <a:t>What is GEMINI?</a:t>
            </a:r>
          </a:p>
        </p:txBody>
      </p:sp>
      <p:sp>
        <p:nvSpPr>
          <p:cNvPr id="3" name="Subtitle 2">
            <a:extLst>
              <a:ext uri="{FF2B5EF4-FFF2-40B4-BE49-F238E27FC236}">
                <a16:creationId xmlns:a16="http://schemas.microsoft.com/office/drawing/2014/main" id="{798CC1C5-D88A-4BC3-8806-9AF446B6C12F}"/>
              </a:ext>
            </a:extLst>
          </p:cNvPr>
          <p:cNvSpPr>
            <a:spLocks noGrp="1"/>
          </p:cNvSpPr>
          <p:nvPr>
            <p:ph type="subTitle" idx="1"/>
          </p:nvPr>
        </p:nvSpPr>
        <p:spPr/>
        <p:txBody>
          <a:bodyPr/>
          <a:lstStyle/>
          <a:p>
            <a:r>
              <a:rPr lang="en-GB" dirty="0"/>
              <a:t>And why should I care?</a:t>
            </a:r>
          </a:p>
          <a:p>
            <a:r>
              <a:rPr lang="en-GB" dirty="0"/>
              <a:t>Peter Parslow, AGI &amp; OS</a:t>
            </a:r>
          </a:p>
        </p:txBody>
      </p:sp>
    </p:spTree>
    <p:extLst>
      <p:ext uri="{BB962C8B-B14F-4D97-AF65-F5344CB8AC3E}">
        <p14:creationId xmlns:p14="http://schemas.microsoft.com/office/powerpoint/2010/main" val="4214882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68D7ED3-7FCC-4336-ABE1-0C37B72131F0}"/>
              </a:ext>
            </a:extLst>
          </p:cNvPr>
          <p:cNvPicPr>
            <a:picLocks noGrp="1" noChangeAspect="1"/>
          </p:cNvPicPr>
          <p:nvPr>
            <p:ph idx="1"/>
          </p:nvPr>
        </p:nvPicPr>
        <p:blipFill>
          <a:blip r:embed="rId3"/>
          <a:stretch>
            <a:fillRect/>
          </a:stretch>
        </p:blipFill>
        <p:spPr>
          <a:xfrm>
            <a:off x="1628775" y="184370"/>
            <a:ext cx="9124950" cy="3486150"/>
          </a:xfrm>
        </p:spPr>
      </p:pic>
      <p:sp>
        <p:nvSpPr>
          <p:cNvPr id="6" name="TextBox 5">
            <a:extLst>
              <a:ext uri="{FF2B5EF4-FFF2-40B4-BE49-F238E27FC236}">
                <a16:creationId xmlns:a16="http://schemas.microsoft.com/office/drawing/2014/main" id="{DD91AF9A-C9E6-41FB-9CB0-486144D1CCE7}"/>
              </a:ext>
            </a:extLst>
          </p:cNvPr>
          <p:cNvSpPr txBox="1"/>
          <p:nvPr/>
        </p:nvSpPr>
        <p:spPr>
          <a:xfrm>
            <a:off x="1763708" y="3652048"/>
            <a:ext cx="8867775" cy="3416320"/>
          </a:xfrm>
          <a:prstGeom prst="rect">
            <a:avLst/>
          </a:prstGeom>
          <a:noFill/>
        </p:spPr>
        <p:txBody>
          <a:bodyPr wrap="square" rtlCol="0">
            <a:spAutoFit/>
          </a:bodyPr>
          <a:lstStyle/>
          <a:p>
            <a:r>
              <a:rPr lang="en-GB" b="0" i="0" dirty="0">
                <a:solidFill>
                  <a:srgbClr val="0B0C0C"/>
                </a:solidFill>
                <a:effectLst/>
                <a:latin typeface="nta"/>
              </a:rPr>
              <a:t>“You should not use Dublin Core if you’re:</a:t>
            </a:r>
          </a:p>
          <a:p>
            <a:pPr marL="285750" indent="-285750">
              <a:buFont typeface="Arial" panose="020B0604020202020204" pitchFamily="34" charset="0"/>
              <a:buChar char="•"/>
            </a:pPr>
            <a:r>
              <a:rPr lang="en-GB" b="0" i="0" dirty="0">
                <a:solidFill>
                  <a:srgbClr val="0B0C0C"/>
                </a:solidFill>
                <a:effectLst/>
                <a:latin typeface="nta"/>
              </a:rPr>
              <a:t>creating and managing geographic data - use documentation in </a:t>
            </a:r>
            <a:r>
              <a:rPr lang="en-GB" b="0" i="0" dirty="0">
                <a:solidFill>
                  <a:srgbClr val="4C2C92"/>
                </a:solidFill>
                <a:effectLst/>
                <a:latin typeface="nta"/>
                <a:hlinkClick r:id="rId4"/>
              </a:rPr>
              <a:t>INSPIRE</a:t>
            </a:r>
            <a:r>
              <a:rPr lang="en-GB" b="0" i="0" dirty="0">
                <a:solidFill>
                  <a:srgbClr val="0B0C0C"/>
                </a:solidFill>
                <a:effectLst/>
                <a:latin typeface="nta"/>
              </a:rPr>
              <a:t>, specifically the section on GEMINI”</a:t>
            </a:r>
          </a:p>
          <a:p>
            <a:endParaRPr lang="en-GB" dirty="0">
              <a:solidFill>
                <a:srgbClr val="0B0C0C"/>
              </a:solidFill>
              <a:latin typeface="nta"/>
            </a:endParaRPr>
          </a:p>
          <a:p>
            <a:r>
              <a:rPr lang="en-GB" i="1" dirty="0">
                <a:solidFill>
                  <a:srgbClr val="0B0C0C"/>
                </a:solidFill>
                <a:latin typeface="nta"/>
              </a:rPr>
              <a:t>Follow the link to get data.gov.uk guidance on “harvesting” INSPIRE metadata….</a:t>
            </a:r>
          </a:p>
          <a:p>
            <a:pPr algn="l"/>
            <a:r>
              <a:rPr lang="en-GB" b="0" i="0" dirty="0">
                <a:solidFill>
                  <a:srgbClr val="0B0C0C"/>
                </a:solidFill>
                <a:effectLst/>
                <a:latin typeface="nta"/>
              </a:rPr>
              <a:t>“</a:t>
            </a:r>
            <a:r>
              <a:rPr lang="en-GB" b="1" i="0" dirty="0">
                <a:solidFill>
                  <a:srgbClr val="0B0C0C"/>
                </a:solidFill>
                <a:effectLst/>
                <a:latin typeface="GDS Transport"/>
              </a:rPr>
              <a:t>GEMINI and ISO 19139 metadata</a:t>
            </a:r>
          </a:p>
          <a:p>
            <a:pPr algn="l"/>
            <a:r>
              <a:rPr lang="en-GB" b="0" i="0" dirty="0">
                <a:solidFill>
                  <a:srgbClr val="0B0C0C"/>
                </a:solidFill>
                <a:effectLst/>
                <a:latin typeface="GDS Transport"/>
              </a:rPr>
              <a:t>The CSW/WAF/Single-File harvesters all require the records to be in either GEMINI or ISO 19139 format, depending on whether the data is (geo-)spatial or not. Use:</a:t>
            </a:r>
          </a:p>
          <a:p>
            <a:pPr algn="l">
              <a:buFont typeface="Arial" panose="020B0604020202020204" pitchFamily="34" charset="0"/>
              <a:buChar char="•"/>
            </a:pPr>
            <a:r>
              <a:rPr lang="en-GB" b="0" i="0" dirty="0">
                <a:solidFill>
                  <a:srgbClr val="0B0C0C"/>
                </a:solidFill>
                <a:effectLst/>
                <a:latin typeface="GDS Transport"/>
              </a:rPr>
              <a:t>ISO 19139 for </a:t>
            </a:r>
            <a:r>
              <a:rPr lang="en-GB" b="1" i="0" dirty="0">
                <a:solidFill>
                  <a:srgbClr val="0B0C0C"/>
                </a:solidFill>
                <a:effectLst/>
                <a:latin typeface="GDS Transport"/>
              </a:rPr>
              <a:t>non-spatial</a:t>
            </a:r>
            <a:r>
              <a:rPr lang="en-GB" b="0" i="0" dirty="0">
                <a:solidFill>
                  <a:srgbClr val="0B0C0C"/>
                </a:solidFill>
                <a:effectLst/>
                <a:latin typeface="GDS Transport"/>
              </a:rPr>
              <a:t> data</a:t>
            </a:r>
          </a:p>
          <a:p>
            <a:pPr algn="l">
              <a:buFont typeface="Arial" panose="020B0604020202020204" pitchFamily="34" charset="0"/>
              <a:buChar char="•"/>
            </a:pPr>
            <a:r>
              <a:rPr lang="en-GB" b="0" i="0" dirty="0">
                <a:solidFill>
                  <a:srgbClr val="0B0C0C"/>
                </a:solidFill>
                <a:effectLst/>
                <a:latin typeface="GDS Transport"/>
              </a:rPr>
              <a:t>GEMINI 2.3 for </a:t>
            </a:r>
            <a:r>
              <a:rPr lang="en-GB" b="1" i="0" dirty="0">
                <a:solidFill>
                  <a:srgbClr val="0B0C0C"/>
                </a:solidFill>
                <a:effectLst/>
                <a:latin typeface="GDS Transport"/>
              </a:rPr>
              <a:t>spatial</a:t>
            </a:r>
            <a:r>
              <a:rPr lang="en-GB" b="0" i="0" dirty="0">
                <a:solidFill>
                  <a:srgbClr val="0B0C0C"/>
                </a:solidFill>
                <a:effectLst/>
                <a:latin typeface="GDS Transport"/>
              </a:rPr>
              <a:t> data (including INSPIRE datasets)”</a:t>
            </a:r>
          </a:p>
          <a:p>
            <a:pPr marL="285750" indent="-285750">
              <a:buFont typeface="Arial" panose="020B0604020202020204" pitchFamily="34" charset="0"/>
              <a:buChar char="•"/>
            </a:pPr>
            <a:endParaRPr lang="en-GB" b="0" i="0" dirty="0">
              <a:solidFill>
                <a:srgbClr val="0B0C0C"/>
              </a:solidFill>
              <a:effectLst/>
              <a:latin typeface="nta"/>
            </a:endParaRPr>
          </a:p>
          <a:p>
            <a:endParaRPr lang="en-GB" dirty="0"/>
          </a:p>
        </p:txBody>
      </p:sp>
      <p:sp>
        <p:nvSpPr>
          <p:cNvPr id="7" name="TextBox 6">
            <a:extLst>
              <a:ext uri="{FF2B5EF4-FFF2-40B4-BE49-F238E27FC236}">
                <a16:creationId xmlns:a16="http://schemas.microsoft.com/office/drawing/2014/main" id="{AF1D216D-6ECB-4E34-AFE7-7505BDDDCD5A}"/>
              </a:ext>
            </a:extLst>
          </p:cNvPr>
          <p:cNvSpPr txBox="1"/>
          <p:nvPr/>
        </p:nvSpPr>
        <p:spPr>
          <a:xfrm rot="531333">
            <a:off x="2341840" y="3398982"/>
            <a:ext cx="8452314" cy="923330"/>
          </a:xfrm>
          <a:prstGeom prst="rect">
            <a:avLst/>
          </a:prstGeom>
          <a:solidFill>
            <a:srgbClr val="FFC000"/>
          </a:solidFill>
        </p:spPr>
        <p:txBody>
          <a:bodyPr wrap="none" rtlCol="0">
            <a:spAutoFit/>
          </a:bodyPr>
          <a:lstStyle/>
          <a:p>
            <a:r>
              <a:rPr lang="en-GB" dirty="0"/>
              <a:t>What’s “geographic”?</a:t>
            </a:r>
          </a:p>
          <a:p>
            <a:endParaRPr lang="en-GB" dirty="0"/>
          </a:p>
          <a:p>
            <a:r>
              <a:rPr lang="en-GB" dirty="0"/>
              <a:t>“any data with a direct or indirect reference to a specific location or geographical area.”</a:t>
            </a:r>
          </a:p>
        </p:txBody>
      </p:sp>
    </p:spTree>
    <p:extLst>
      <p:ext uri="{BB962C8B-B14F-4D97-AF65-F5344CB8AC3E}">
        <p14:creationId xmlns:p14="http://schemas.microsoft.com/office/powerpoint/2010/main" val="243606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C892BC-40D7-4BC6-8D44-046CDEA9214C}"/>
              </a:ext>
            </a:extLst>
          </p:cNvPr>
          <p:cNvSpPr>
            <a:spLocks noGrp="1"/>
          </p:cNvSpPr>
          <p:nvPr>
            <p:ph type="title"/>
          </p:nvPr>
        </p:nvSpPr>
        <p:spPr/>
        <p:txBody>
          <a:bodyPr/>
          <a:lstStyle/>
          <a:p>
            <a:r>
              <a:rPr lang="en-GB" dirty="0"/>
              <a:t>Why did they say that?</a:t>
            </a:r>
          </a:p>
        </p:txBody>
      </p:sp>
      <p:sp>
        <p:nvSpPr>
          <p:cNvPr id="5" name="Content Placeholder 4">
            <a:extLst>
              <a:ext uri="{FF2B5EF4-FFF2-40B4-BE49-F238E27FC236}">
                <a16:creationId xmlns:a16="http://schemas.microsoft.com/office/drawing/2014/main" id="{0E65DF8E-5243-45EC-9CDE-8EFA9C1E45C9}"/>
              </a:ext>
            </a:extLst>
          </p:cNvPr>
          <p:cNvSpPr>
            <a:spLocks noGrp="1"/>
          </p:cNvSpPr>
          <p:nvPr>
            <p:ph idx="1"/>
          </p:nvPr>
        </p:nvSpPr>
        <p:spPr>
          <a:xfrm>
            <a:off x="838200" y="1366982"/>
            <a:ext cx="10515600" cy="4396509"/>
          </a:xfrm>
        </p:spPr>
        <p:txBody>
          <a:bodyPr>
            <a:normAutofit/>
          </a:bodyPr>
          <a:lstStyle/>
          <a:p>
            <a:pPr marL="0" indent="0">
              <a:buNone/>
            </a:pPr>
            <a:r>
              <a:rPr lang="en-GB" i="1" dirty="0">
                <a:solidFill>
                  <a:srgbClr val="0B0C0C"/>
                </a:solidFill>
                <a:latin typeface="nta"/>
              </a:rPr>
              <a:t>“harvesting” INSPIRE metadata to data.gov.uk….</a:t>
            </a:r>
          </a:p>
          <a:p>
            <a:r>
              <a:rPr lang="en-GB" dirty="0"/>
              <a:t>INSPIRE: a statutory instrument* that’s part of the “UK Spatial Data Infrastructure”. Obliges </a:t>
            </a:r>
          </a:p>
          <a:p>
            <a:pPr lvl="1"/>
            <a:r>
              <a:rPr lang="en-GB" i="1" dirty="0"/>
              <a:t>Secretary of State for the Environment </a:t>
            </a:r>
            <a:r>
              <a:rPr lang="en-GB" dirty="0"/>
              <a:t>to set up a discovery service</a:t>
            </a:r>
          </a:p>
          <a:p>
            <a:pPr marL="457200" lvl="1" indent="0">
              <a:buNone/>
            </a:pPr>
            <a:r>
              <a:rPr lang="en-GB" b="0" i="0" dirty="0">
                <a:solidFill>
                  <a:schemeClr val="accent1"/>
                </a:solidFill>
                <a:effectLst/>
                <a:latin typeface="arial" panose="020B0604020202020204" pitchFamily="34" charset="0"/>
              </a:rPr>
              <a:t>“making it possible to search for spatial data sets and spatial data services on the basis of the content of the corresponding metadata and to display the content of the metadata”</a:t>
            </a:r>
            <a:endParaRPr lang="en-GB" dirty="0">
              <a:solidFill>
                <a:schemeClr val="accent1"/>
              </a:solidFill>
            </a:endParaRPr>
          </a:p>
          <a:p>
            <a:pPr lvl="1"/>
            <a:r>
              <a:rPr lang="en-GB" i="1" dirty="0"/>
              <a:t>all public authorities </a:t>
            </a:r>
            <a:r>
              <a:rPr lang="en-GB" dirty="0"/>
              <a:t>to catalogue their datasets (and web services)</a:t>
            </a:r>
          </a:p>
          <a:p>
            <a:r>
              <a:rPr lang="en-GB" dirty="0"/>
              <a:t>Uses data.gov.uk </a:t>
            </a:r>
          </a:p>
          <a:p>
            <a:r>
              <a:rPr lang="en-GB" dirty="0"/>
              <a:t>GEMINI has been the agreed standard for that since 2009</a:t>
            </a:r>
          </a:p>
          <a:p>
            <a:pPr marL="0" indent="0">
              <a:buNone/>
            </a:pPr>
            <a:endParaRPr lang="en-GB" dirty="0"/>
          </a:p>
        </p:txBody>
      </p:sp>
      <p:sp>
        <p:nvSpPr>
          <p:cNvPr id="6" name="TextBox 5">
            <a:extLst>
              <a:ext uri="{FF2B5EF4-FFF2-40B4-BE49-F238E27FC236}">
                <a16:creationId xmlns:a16="http://schemas.microsoft.com/office/drawing/2014/main" id="{F19F3D11-75A9-412B-9EC9-DB99B9FDA394}"/>
              </a:ext>
            </a:extLst>
          </p:cNvPr>
          <p:cNvSpPr txBox="1"/>
          <p:nvPr/>
        </p:nvSpPr>
        <p:spPr>
          <a:xfrm>
            <a:off x="905164" y="6123543"/>
            <a:ext cx="6753515" cy="369332"/>
          </a:xfrm>
          <a:prstGeom prst="rect">
            <a:avLst/>
          </a:prstGeom>
          <a:noFill/>
        </p:spPr>
        <p:txBody>
          <a:bodyPr wrap="none" rtlCol="0">
            <a:spAutoFit/>
          </a:bodyPr>
          <a:lstStyle/>
          <a:p>
            <a:r>
              <a:rPr lang="en-GB" dirty="0"/>
              <a:t>* 2009, amended a lot; overseen by the ICO; equivalent SI in Scotland </a:t>
            </a:r>
          </a:p>
        </p:txBody>
      </p:sp>
    </p:spTree>
    <p:extLst>
      <p:ext uri="{BB962C8B-B14F-4D97-AF65-F5344CB8AC3E}">
        <p14:creationId xmlns:p14="http://schemas.microsoft.com/office/powerpoint/2010/main" val="758088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C0FCC-5DDA-4940-A393-16CD285F9AF5}"/>
              </a:ext>
            </a:extLst>
          </p:cNvPr>
          <p:cNvSpPr>
            <a:spLocks noGrp="1"/>
          </p:cNvSpPr>
          <p:nvPr>
            <p:ph type="title"/>
          </p:nvPr>
        </p:nvSpPr>
        <p:spPr/>
        <p:txBody>
          <a:bodyPr/>
          <a:lstStyle/>
          <a:p>
            <a:r>
              <a:rPr lang="en-GB" dirty="0"/>
              <a:t>Is it still a good idea? What is GEMINI?</a:t>
            </a:r>
          </a:p>
        </p:txBody>
      </p:sp>
      <p:graphicFrame>
        <p:nvGraphicFramePr>
          <p:cNvPr id="4" name="Table 4">
            <a:extLst>
              <a:ext uri="{FF2B5EF4-FFF2-40B4-BE49-F238E27FC236}">
                <a16:creationId xmlns:a16="http://schemas.microsoft.com/office/drawing/2014/main" id="{96062447-74B4-43EE-80FD-08DC34E9952C}"/>
              </a:ext>
            </a:extLst>
          </p:cNvPr>
          <p:cNvGraphicFramePr>
            <a:graphicFrameLocks noGrp="1"/>
          </p:cNvGraphicFramePr>
          <p:nvPr>
            <p:ph idx="1"/>
            <p:extLst>
              <p:ext uri="{D42A27DB-BD31-4B8C-83A1-F6EECF244321}">
                <p14:modId xmlns:p14="http://schemas.microsoft.com/office/powerpoint/2010/main" val="2232351138"/>
              </p:ext>
            </p:extLst>
          </p:nvPr>
        </p:nvGraphicFramePr>
        <p:xfrm>
          <a:off x="838200" y="1825625"/>
          <a:ext cx="10515600" cy="1112520"/>
        </p:xfrm>
        <a:graphic>
          <a:graphicData uri="http://schemas.openxmlformats.org/drawingml/2006/table">
            <a:tbl>
              <a:tblPr bandRow="1">
                <a:tableStyleId>{5C22544A-7EE6-4342-B048-85BDC9FD1C3A}</a:tableStyleId>
              </a:tblPr>
              <a:tblGrid>
                <a:gridCol w="5340927">
                  <a:extLst>
                    <a:ext uri="{9D8B030D-6E8A-4147-A177-3AD203B41FA5}">
                      <a16:colId xmlns:a16="http://schemas.microsoft.com/office/drawing/2014/main" val="3077436879"/>
                    </a:ext>
                  </a:extLst>
                </a:gridCol>
                <a:gridCol w="1237673">
                  <a:extLst>
                    <a:ext uri="{9D8B030D-6E8A-4147-A177-3AD203B41FA5}">
                      <a16:colId xmlns:a16="http://schemas.microsoft.com/office/drawing/2014/main" val="1325543641"/>
                    </a:ext>
                  </a:extLst>
                </a:gridCol>
                <a:gridCol w="3937000">
                  <a:extLst>
                    <a:ext uri="{9D8B030D-6E8A-4147-A177-3AD203B41FA5}">
                      <a16:colId xmlns:a16="http://schemas.microsoft.com/office/drawing/2014/main" val="1213099792"/>
                    </a:ext>
                  </a:extLst>
                </a:gridCol>
              </a:tblGrid>
              <a:tr h="370840">
                <a:tc>
                  <a:txBody>
                    <a:bodyPr/>
                    <a:lstStyle/>
                    <a:p>
                      <a:r>
                        <a:rPr lang="en-GB" dirty="0"/>
                        <a:t>GEMINI</a:t>
                      </a:r>
                    </a:p>
                  </a:txBody>
                  <a:tcPr/>
                </a:tc>
                <a:tc>
                  <a:txBody>
                    <a:bodyPr/>
                    <a:lstStyle/>
                    <a:p>
                      <a:r>
                        <a:rPr lang="en-GB" dirty="0"/>
                        <a:t>UK</a:t>
                      </a:r>
                    </a:p>
                  </a:txBody>
                  <a:tcPr/>
                </a:tc>
                <a:tc>
                  <a:txBody>
                    <a:bodyPr/>
                    <a:lstStyle/>
                    <a:p>
                      <a:r>
                        <a:rPr lang="en-GB" dirty="0"/>
                        <a:t>Association for Geographic Information</a:t>
                      </a:r>
                    </a:p>
                  </a:txBody>
                  <a:tcPr/>
                </a:tc>
                <a:extLst>
                  <a:ext uri="{0D108BD9-81ED-4DB2-BD59-A6C34878D82A}">
                    <a16:rowId xmlns:a16="http://schemas.microsoft.com/office/drawing/2014/main" val="474087096"/>
                  </a:ext>
                </a:extLst>
              </a:tr>
              <a:tr h="370840">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947083856"/>
                  </a:ext>
                </a:extLst>
              </a:tr>
              <a:tr h="370840">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652054830"/>
                  </a:ext>
                </a:extLst>
              </a:tr>
            </a:tbl>
          </a:graphicData>
        </a:graphic>
      </p:graphicFrame>
      <p:graphicFrame>
        <p:nvGraphicFramePr>
          <p:cNvPr id="5" name="Table 4">
            <a:extLst>
              <a:ext uri="{FF2B5EF4-FFF2-40B4-BE49-F238E27FC236}">
                <a16:creationId xmlns:a16="http://schemas.microsoft.com/office/drawing/2014/main" id="{B0486B9A-D303-422A-9F6C-734AC85F2450}"/>
              </a:ext>
            </a:extLst>
          </p:cNvPr>
          <p:cNvGraphicFramePr>
            <a:graphicFrameLocks/>
          </p:cNvGraphicFramePr>
          <p:nvPr>
            <p:extLst>
              <p:ext uri="{D42A27DB-BD31-4B8C-83A1-F6EECF244321}">
                <p14:modId xmlns:p14="http://schemas.microsoft.com/office/powerpoint/2010/main" val="2416321144"/>
              </p:ext>
            </p:extLst>
          </p:nvPr>
        </p:nvGraphicFramePr>
        <p:xfrm>
          <a:off x="838200" y="1828104"/>
          <a:ext cx="10515600" cy="1112520"/>
        </p:xfrm>
        <a:graphic>
          <a:graphicData uri="http://schemas.openxmlformats.org/drawingml/2006/table">
            <a:tbl>
              <a:tblPr bandRow="1">
                <a:tableStyleId>{5C22544A-7EE6-4342-B048-85BDC9FD1C3A}</a:tableStyleId>
              </a:tblPr>
              <a:tblGrid>
                <a:gridCol w="5340927">
                  <a:extLst>
                    <a:ext uri="{9D8B030D-6E8A-4147-A177-3AD203B41FA5}">
                      <a16:colId xmlns:a16="http://schemas.microsoft.com/office/drawing/2014/main" val="3077436879"/>
                    </a:ext>
                  </a:extLst>
                </a:gridCol>
                <a:gridCol w="1237673">
                  <a:extLst>
                    <a:ext uri="{9D8B030D-6E8A-4147-A177-3AD203B41FA5}">
                      <a16:colId xmlns:a16="http://schemas.microsoft.com/office/drawing/2014/main" val="1325543641"/>
                    </a:ext>
                  </a:extLst>
                </a:gridCol>
                <a:gridCol w="3937000">
                  <a:extLst>
                    <a:ext uri="{9D8B030D-6E8A-4147-A177-3AD203B41FA5}">
                      <a16:colId xmlns:a16="http://schemas.microsoft.com/office/drawing/2014/main" val="1213099792"/>
                    </a:ext>
                  </a:extLst>
                </a:gridCol>
              </a:tblGrid>
              <a:tr h="370840">
                <a:tc>
                  <a:txBody>
                    <a:bodyPr/>
                    <a:lstStyle/>
                    <a:p>
                      <a:r>
                        <a:rPr lang="en-GB" dirty="0"/>
                        <a:t>GEMINI</a:t>
                      </a:r>
                    </a:p>
                  </a:txBody>
                  <a:tcPr/>
                </a:tc>
                <a:tc>
                  <a:txBody>
                    <a:bodyPr/>
                    <a:lstStyle/>
                    <a:p>
                      <a:r>
                        <a:rPr lang="en-GB" dirty="0"/>
                        <a:t>UK</a:t>
                      </a:r>
                    </a:p>
                  </a:txBody>
                  <a:tcPr/>
                </a:tc>
                <a:tc>
                  <a:txBody>
                    <a:bodyPr/>
                    <a:lstStyle/>
                    <a:p>
                      <a:r>
                        <a:rPr lang="en-GB" dirty="0"/>
                        <a:t>Association for Geographic Information</a:t>
                      </a:r>
                    </a:p>
                  </a:txBody>
                  <a:tcPr/>
                </a:tc>
                <a:extLst>
                  <a:ext uri="{0D108BD9-81ED-4DB2-BD59-A6C34878D82A}">
                    <a16:rowId xmlns:a16="http://schemas.microsoft.com/office/drawing/2014/main" val="474087096"/>
                  </a:ext>
                </a:extLst>
              </a:tr>
              <a:tr h="370840">
                <a:tc>
                  <a:txBody>
                    <a:bodyPr/>
                    <a:lstStyle/>
                    <a:p>
                      <a:r>
                        <a:rPr lang="en-GB" dirty="0"/>
                        <a:t>ISO 19115:2003 Geographic information – Metadata</a:t>
                      </a:r>
                    </a:p>
                  </a:txBody>
                  <a:tcPr/>
                </a:tc>
                <a:tc>
                  <a:txBody>
                    <a:bodyPr/>
                    <a:lstStyle/>
                    <a:p>
                      <a:r>
                        <a:rPr lang="en-GB" dirty="0"/>
                        <a:t>Worldwide</a:t>
                      </a:r>
                    </a:p>
                  </a:txBody>
                  <a:tcPr/>
                </a:tc>
                <a:tc>
                  <a:txBody>
                    <a:bodyPr/>
                    <a:lstStyle/>
                    <a:p>
                      <a:r>
                        <a:rPr lang="en-GB" dirty="0"/>
                        <a:t>ISO</a:t>
                      </a:r>
                    </a:p>
                  </a:txBody>
                  <a:tcPr/>
                </a:tc>
                <a:extLst>
                  <a:ext uri="{0D108BD9-81ED-4DB2-BD59-A6C34878D82A}">
                    <a16:rowId xmlns:a16="http://schemas.microsoft.com/office/drawing/2014/main" val="1947083856"/>
                  </a:ext>
                </a:extLst>
              </a:tr>
              <a:tr h="370840">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652054830"/>
                  </a:ext>
                </a:extLst>
              </a:tr>
            </a:tbl>
          </a:graphicData>
        </a:graphic>
      </p:graphicFrame>
      <p:graphicFrame>
        <p:nvGraphicFramePr>
          <p:cNvPr id="6" name="Table 4">
            <a:extLst>
              <a:ext uri="{FF2B5EF4-FFF2-40B4-BE49-F238E27FC236}">
                <a16:creationId xmlns:a16="http://schemas.microsoft.com/office/drawing/2014/main" id="{52EE531B-50D5-4E07-94DE-5DF38122F93E}"/>
              </a:ext>
            </a:extLst>
          </p:cNvPr>
          <p:cNvGraphicFramePr>
            <a:graphicFrameLocks/>
          </p:cNvGraphicFramePr>
          <p:nvPr>
            <p:extLst>
              <p:ext uri="{D42A27DB-BD31-4B8C-83A1-F6EECF244321}">
                <p14:modId xmlns:p14="http://schemas.microsoft.com/office/powerpoint/2010/main" val="1042394502"/>
              </p:ext>
            </p:extLst>
          </p:nvPr>
        </p:nvGraphicFramePr>
        <p:xfrm>
          <a:off x="838200" y="1823146"/>
          <a:ext cx="10515600" cy="1112520"/>
        </p:xfrm>
        <a:graphic>
          <a:graphicData uri="http://schemas.openxmlformats.org/drawingml/2006/table">
            <a:tbl>
              <a:tblPr bandRow="1">
                <a:tableStyleId>{5C22544A-7EE6-4342-B048-85BDC9FD1C3A}</a:tableStyleId>
              </a:tblPr>
              <a:tblGrid>
                <a:gridCol w="5340927">
                  <a:extLst>
                    <a:ext uri="{9D8B030D-6E8A-4147-A177-3AD203B41FA5}">
                      <a16:colId xmlns:a16="http://schemas.microsoft.com/office/drawing/2014/main" val="3077436879"/>
                    </a:ext>
                  </a:extLst>
                </a:gridCol>
                <a:gridCol w="1237673">
                  <a:extLst>
                    <a:ext uri="{9D8B030D-6E8A-4147-A177-3AD203B41FA5}">
                      <a16:colId xmlns:a16="http://schemas.microsoft.com/office/drawing/2014/main" val="1325543641"/>
                    </a:ext>
                  </a:extLst>
                </a:gridCol>
                <a:gridCol w="3937000">
                  <a:extLst>
                    <a:ext uri="{9D8B030D-6E8A-4147-A177-3AD203B41FA5}">
                      <a16:colId xmlns:a16="http://schemas.microsoft.com/office/drawing/2014/main" val="1213099792"/>
                    </a:ext>
                  </a:extLst>
                </a:gridCol>
              </a:tblGrid>
              <a:tr h="370840">
                <a:tc>
                  <a:txBody>
                    <a:bodyPr/>
                    <a:lstStyle/>
                    <a:p>
                      <a:r>
                        <a:rPr lang="en-GB" dirty="0"/>
                        <a:t>GEMINI</a:t>
                      </a:r>
                    </a:p>
                  </a:txBody>
                  <a:tcPr/>
                </a:tc>
                <a:tc>
                  <a:txBody>
                    <a:bodyPr/>
                    <a:lstStyle/>
                    <a:p>
                      <a:r>
                        <a:rPr lang="en-GB" dirty="0"/>
                        <a:t>UK</a:t>
                      </a:r>
                    </a:p>
                  </a:txBody>
                  <a:tcPr/>
                </a:tc>
                <a:tc>
                  <a:txBody>
                    <a:bodyPr/>
                    <a:lstStyle/>
                    <a:p>
                      <a:r>
                        <a:rPr lang="en-GB" dirty="0"/>
                        <a:t>Association for Geographic Information</a:t>
                      </a:r>
                    </a:p>
                  </a:txBody>
                  <a:tcPr/>
                </a:tc>
                <a:extLst>
                  <a:ext uri="{0D108BD9-81ED-4DB2-BD59-A6C34878D82A}">
                    <a16:rowId xmlns:a16="http://schemas.microsoft.com/office/drawing/2014/main" val="474087096"/>
                  </a:ext>
                </a:extLst>
              </a:tr>
              <a:tr h="370840">
                <a:tc>
                  <a:txBody>
                    <a:bodyPr/>
                    <a:lstStyle/>
                    <a:p>
                      <a:r>
                        <a:rPr lang="en-GB" dirty="0"/>
                        <a:t>ISO 19115:2003 Geographic information – Metadata</a:t>
                      </a:r>
                    </a:p>
                  </a:txBody>
                  <a:tcPr/>
                </a:tc>
                <a:tc>
                  <a:txBody>
                    <a:bodyPr/>
                    <a:lstStyle/>
                    <a:p>
                      <a:r>
                        <a:rPr lang="en-GB" dirty="0"/>
                        <a:t>Worldwide</a:t>
                      </a:r>
                    </a:p>
                  </a:txBody>
                  <a:tcPr/>
                </a:tc>
                <a:tc>
                  <a:txBody>
                    <a:bodyPr/>
                    <a:lstStyle/>
                    <a:p>
                      <a:r>
                        <a:rPr lang="en-GB" dirty="0"/>
                        <a:t>ISO</a:t>
                      </a:r>
                    </a:p>
                  </a:txBody>
                  <a:tcPr/>
                </a:tc>
                <a:extLst>
                  <a:ext uri="{0D108BD9-81ED-4DB2-BD59-A6C34878D82A}">
                    <a16:rowId xmlns:a16="http://schemas.microsoft.com/office/drawing/2014/main" val="1947083856"/>
                  </a:ext>
                </a:extLst>
              </a:tr>
              <a:tr h="370840">
                <a:tc>
                  <a:txBody>
                    <a:bodyPr/>
                    <a:lstStyle/>
                    <a:p>
                      <a:r>
                        <a:rPr lang="en-GB" dirty="0"/>
                        <a:t>Dublin Core</a:t>
                      </a:r>
                    </a:p>
                  </a:txBody>
                  <a:tcPr/>
                </a:tc>
                <a:tc>
                  <a:txBody>
                    <a:bodyPr/>
                    <a:lstStyle/>
                    <a:p>
                      <a:r>
                        <a:rPr lang="en-GB" dirty="0"/>
                        <a:t>Worldwide</a:t>
                      </a:r>
                    </a:p>
                  </a:txBody>
                  <a:tcPr/>
                </a:tc>
                <a:tc>
                  <a:txBody>
                    <a:bodyPr/>
                    <a:lstStyle/>
                    <a:p>
                      <a:endParaRPr lang="en-GB" dirty="0"/>
                    </a:p>
                  </a:txBody>
                  <a:tcPr/>
                </a:tc>
                <a:extLst>
                  <a:ext uri="{0D108BD9-81ED-4DB2-BD59-A6C34878D82A}">
                    <a16:rowId xmlns:a16="http://schemas.microsoft.com/office/drawing/2014/main" val="2652054830"/>
                  </a:ext>
                </a:extLst>
              </a:tr>
            </a:tbl>
          </a:graphicData>
        </a:graphic>
      </p:graphicFrame>
      <p:sp>
        <p:nvSpPr>
          <p:cNvPr id="3" name="TextBox 2">
            <a:extLst>
              <a:ext uri="{FF2B5EF4-FFF2-40B4-BE49-F238E27FC236}">
                <a16:creationId xmlns:a16="http://schemas.microsoft.com/office/drawing/2014/main" id="{484CEC06-9F02-4A57-9C4C-046F6DE172B0}"/>
              </a:ext>
            </a:extLst>
          </p:cNvPr>
          <p:cNvSpPr txBox="1"/>
          <p:nvPr/>
        </p:nvSpPr>
        <p:spPr>
          <a:xfrm>
            <a:off x="5987845" y="3677265"/>
            <a:ext cx="5011500" cy="369332"/>
          </a:xfrm>
          <a:prstGeom prst="rect">
            <a:avLst/>
          </a:prstGeom>
          <a:noFill/>
        </p:spPr>
        <p:txBody>
          <a:bodyPr wrap="none" rtlCol="0">
            <a:spAutoFit/>
          </a:bodyPr>
          <a:lstStyle/>
          <a:p>
            <a:r>
              <a:rPr lang="en-GB" dirty="0"/>
              <a:t>Strongly influenced by INSPIRE Technical Guidelines</a:t>
            </a:r>
          </a:p>
        </p:txBody>
      </p:sp>
    </p:spTree>
    <p:extLst>
      <p:ext uri="{BB962C8B-B14F-4D97-AF65-F5344CB8AC3E}">
        <p14:creationId xmlns:p14="http://schemas.microsoft.com/office/powerpoint/2010/main" val="62725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EFA42-603A-40A7-B3E1-461E1C6920B7}"/>
              </a:ext>
            </a:extLst>
          </p:cNvPr>
          <p:cNvSpPr>
            <a:spLocks noGrp="1"/>
          </p:cNvSpPr>
          <p:nvPr>
            <p:ph type="title"/>
          </p:nvPr>
        </p:nvSpPr>
        <p:spPr/>
        <p:txBody>
          <a:bodyPr/>
          <a:lstStyle/>
          <a:p>
            <a:r>
              <a:rPr lang="en-GB" dirty="0"/>
              <a:t>So what’s in GEMINI?</a:t>
            </a:r>
          </a:p>
        </p:txBody>
      </p:sp>
      <p:graphicFrame>
        <p:nvGraphicFramePr>
          <p:cNvPr id="4" name="Table 4">
            <a:extLst>
              <a:ext uri="{FF2B5EF4-FFF2-40B4-BE49-F238E27FC236}">
                <a16:creationId xmlns:a16="http://schemas.microsoft.com/office/drawing/2014/main" id="{667C7B67-0A01-49B7-BABB-ECC0919D9168}"/>
              </a:ext>
            </a:extLst>
          </p:cNvPr>
          <p:cNvGraphicFramePr>
            <a:graphicFrameLocks noGrp="1"/>
          </p:cNvGraphicFramePr>
          <p:nvPr>
            <p:ph idx="1"/>
            <p:extLst>
              <p:ext uri="{D42A27DB-BD31-4B8C-83A1-F6EECF244321}">
                <p14:modId xmlns:p14="http://schemas.microsoft.com/office/powerpoint/2010/main" val="1803258692"/>
              </p:ext>
            </p:extLst>
          </p:nvPr>
        </p:nvGraphicFramePr>
        <p:xfrm>
          <a:off x="838200" y="1503891"/>
          <a:ext cx="10515600" cy="4719320"/>
        </p:xfrm>
        <a:graphic>
          <a:graphicData uri="http://schemas.openxmlformats.org/drawingml/2006/table">
            <a:tbl>
              <a:tblPr bandRow="1">
                <a:tableStyleId>{5C22544A-7EE6-4342-B048-85BDC9FD1C3A}</a:tableStyleId>
              </a:tblPr>
              <a:tblGrid>
                <a:gridCol w="5257800">
                  <a:extLst>
                    <a:ext uri="{9D8B030D-6E8A-4147-A177-3AD203B41FA5}">
                      <a16:colId xmlns:a16="http://schemas.microsoft.com/office/drawing/2014/main" val="255107572"/>
                    </a:ext>
                  </a:extLst>
                </a:gridCol>
                <a:gridCol w="5257800">
                  <a:extLst>
                    <a:ext uri="{9D8B030D-6E8A-4147-A177-3AD203B41FA5}">
                      <a16:colId xmlns:a16="http://schemas.microsoft.com/office/drawing/2014/main" val="3657052302"/>
                    </a:ext>
                  </a:extLst>
                </a:gridCol>
              </a:tblGrid>
              <a:tr h="370840">
                <a:tc>
                  <a:txBody>
                    <a:bodyPr/>
                    <a:lstStyle/>
                    <a:p>
                      <a:r>
                        <a:rPr lang="en-GB" dirty="0"/>
                        <a:t>Title</a:t>
                      </a:r>
                    </a:p>
                  </a:txBody>
                  <a:tcPr/>
                </a:tc>
                <a:tc>
                  <a:txBody>
                    <a:bodyPr/>
                    <a:lstStyle/>
                    <a:p>
                      <a:r>
                        <a:rPr lang="en-GB" dirty="0"/>
                        <a:t>And alternative titles</a:t>
                      </a:r>
                    </a:p>
                  </a:txBody>
                  <a:tcPr/>
                </a:tc>
                <a:extLst>
                  <a:ext uri="{0D108BD9-81ED-4DB2-BD59-A6C34878D82A}">
                    <a16:rowId xmlns:a16="http://schemas.microsoft.com/office/drawing/2014/main" val="2283079825"/>
                  </a:ext>
                </a:extLst>
              </a:tr>
              <a:tr h="370840">
                <a:tc>
                  <a:txBody>
                    <a:bodyPr/>
                    <a:lstStyle/>
                    <a:p>
                      <a:r>
                        <a:rPr lang="en-GB" dirty="0"/>
                        <a:t>Abstract</a:t>
                      </a:r>
                    </a:p>
                  </a:txBody>
                  <a:tcPr/>
                </a:tc>
                <a:tc>
                  <a:txBody>
                    <a:bodyPr/>
                    <a:lstStyle/>
                    <a:p>
                      <a:endParaRPr lang="en-GB" dirty="0"/>
                    </a:p>
                  </a:txBody>
                  <a:tcPr/>
                </a:tc>
                <a:extLst>
                  <a:ext uri="{0D108BD9-81ED-4DB2-BD59-A6C34878D82A}">
                    <a16:rowId xmlns:a16="http://schemas.microsoft.com/office/drawing/2014/main" val="3616948107"/>
                  </a:ext>
                </a:extLst>
              </a:tr>
              <a:tr h="370840">
                <a:tc>
                  <a:txBody>
                    <a:bodyPr/>
                    <a:lstStyle/>
                    <a:p>
                      <a:r>
                        <a:rPr lang="en-GB" dirty="0"/>
                        <a:t>Keywords</a:t>
                      </a:r>
                    </a:p>
                  </a:txBody>
                  <a:tcPr/>
                </a:tc>
                <a:tc>
                  <a:txBody>
                    <a:bodyPr/>
                    <a:lstStyle/>
                    <a:p>
                      <a:r>
                        <a:rPr lang="en-GB" dirty="0"/>
                        <a:t>Controlled &amp; uncontrolled</a:t>
                      </a:r>
                    </a:p>
                  </a:txBody>
                  <a:tcPr/>
                </a:tc>
                <a:extLst>
                  <a:ext uri="{0D108BD9-81ED-4DB2-BD59-A6C34878D82A}">
                    <a16:rowId xmlns:a16="http://schemas.microsoft.com/office/drawing/2014/main" val="3428925375"/>
                  </a:ext>
                </a:extLst>
              </a:tr>
              <a:tr h="370840">
                <a:tc>
                  <a:txBody>
                    <a:bodyPr/>
                    <a:lstStyle/>
                    <a:p>
                      <a:r>
                        <a:rPr lang="en-GB" dirty="0"/>
                        <a:t>Dates</a:t>
                      </a:r>
                    </a:p>
                  </a:txBody>
                  <a:tcPr/>
                </a:tc>
                <a:tc>
                  <a:txBody>
                    <a:bodyPr/>
                    <a:lstStyle/>
                    <a:p>
                      <a:r>
                        <a:rPr lang="en-GB" dirty="0"/>
                        <a:t>Date range of data, dates of publication, revision</a:t>
                      </a:r>
                    </a:p>
                  </a:txBody>
                  <a:tcPr/>
                </a:tc>
                <a:extLst>
                  <a:ext uri="{0D108BD9-81ED-4DB2-BD59-A6C34878D82A}">
                    <a16:rowId xmlns:a16="http://schemas.microsoft.com/office/drawing/2014/main" val="3604938301"/>
                  </a:ext>
                </a:extLst>
              </a:tr>
              <a:tr h="370840">
                <a:tc>
                  <a:txBody>
                    <a:bodyPr/>
                    <a:lstStyle/>
                    <a:p>
                      <a:r>
                        <a:rPr lang="en-GB" dirty="0"/>
                        <a:t>Point(s) of contact</a:t>
                      </a:r>
                    </a:p>
                  </a:txBody>
                  <a:tcPr/>
                </a:tc>
                <a:tc>
                  <a:txBody>
                    <a:bodyPr/>
                    <a:lstStyle/>
                    <a:p>
                      <a:r>
                        <a:rPr lang="en-GB" dirty="0"/>
                        <a:t>Publisher, creator, ….</a:t>
                      </a:r>
                    </a:p>
                  </a:txBody>
                  <a:tcPr/>
                </a:tc>
                <a:extLst>
                  <a:ext uri="{0D108BD9-81ED-4DB2-BD59-A6C34878D82A}">
                    <a16:rowId xmlns:a16="http://schemas.microsoft.com/office/drawing/2014/main" val="4003207314"/>
                  </a:ext>
                </a:extLst>
              </a:tr>
              <a:tr h="370840">
                <a:tc>
                  <a:txBody>
                    <a:bodyPr/>
                    <a:lstStyle/>
                    <a:p>
                      <a:r>
                        <a:rPr lang="en-GB" dirty="0"/>
                        <a:t>Lineage</a:t>
                      </a:r>
                    </a:p>
                  </a:txBody>
                  <a:tcPr/>
                </a:tc>
                <a:tc>
                  <a:txBody>
                    <a:bodyPr/>
                    <a:lstStyle/>
                    <a:p>
                      <a:r>
                        <a:rPr lang="en-GB" dirty="0"/>
                        <a:t>Where did it come from? How has it been processed?</a:t>
                      </a:r>
                    </a:p>
                  </a:txBody>
                  <a:tcPr/>
                </a:tc>
                <a:extLst>
                  <a:ext uri="{0D108BD9-81ED-4DB2-BD59-A6C34878D82A}">
                    <a16:rowId xmlns:a16="http://schemas.microsoft.com/office/drawing/2014/main" val="3253085568"/>
                  </a:ext>
                </a:extLst>
              </a:tr>
              <a:tr h="370840">
                <a:tc>
                  <a:txBody>
                    <a:bodyPr/>
                    <a:lstStyle/>
                    <a:p>
                      <a:r>
                        <a:rPr lang="en-GB" dirty="0"/>
                        <a:t>Geographic extent</a:t>
                      </a:r>
                    </a:p>
                  </a:txBody>
                  <a:tcPr/>
                </a:tc>
                <a:tc>
                  <a:txBody>
                    <a:bodyPr/>
                    <a:lstStyle/>
                    <a:p>
                      <a:r>
                        <a:rPr lang="en-GB" dirty="0"/>
                        <a:t>Bounding box</a:t>
                      </a:r>
                    </a:p>
                  </a:txBody>
                  <a:tcPr/>
                </a:tc>
                <a:extLst>
                  <a:ext uri="{0D108BD9-81ED-4DB2-BD59-A6C34878D82A}">
                    <a16:rowId xmlns:a16="http://schemas.microsoft.com/office/drawing/2014/main" val="2276459145"/>
                  </a:ext>
                </a:extLst>
              </a:tr>
              <a:tr h="370840">
                <a:tc>
                  <a:txBody>
                    <a:bodyPr/>
                    <a:lstStyle/>
                    <a:p>
                      <a:r>
                        <a:rPr lang="en-GB" dirty="0"/>
                        <a:t>Links</a:t>
                      </a:r>
                    </a:p>
                  </a:txBody>
                  <a:tcPr/>
                </a:tc>
                <a:tc>
                  <a:txBody>
                    <a:bodyPr/>
                    <a:lstStyle/>
                    <a:p>
                      <a:r>
                        <a:rPr lang="en-GB" dirty="0"/>
                        <a:t>To information, download, licences,…</a:t>
                      </a:r>
                    </a:p>
                  </a:txBody>
                  <a:tcPr/>
                </a:tc>
                <a:extLst>
                  <a:ext uri="{0D108BD9-81ED-4DB2-BD59-A6C34878D82A}">
                    <a16:rowId xmlns:a16="http://schemas.microsoft.com/office/drawing/2014/main" val="2900045039"/>
                  </a:ext>
                </a:extLst>
              </a:tr>
              <a:tr h="370840">
                <a:tc>
                  <a:txBody>
                    <a:bodyPr/>
                    <a:lstStyle/>
                    <a:p>
                      <a:r>
                        <a:rPr lang="en-GB" dirty="0"/>
                        <a:t>Conformity</a:t>
                      </a:r>
                    </a:p>
                  </a:txBody>
                  <a:tcPr/>
                </a:tc>
                <a:tc>
                  <a:txBody>
                    <a:bodyPr/>
                    <a:lstStyle/>
                    <a:p>
                      <a:r>
                        <a:rPr lang="en-GB" dirty="0"/>
                        <a:t>To standards or specification</a:t>
                      </a:r>
                    </a:p>
                  </a:txBody>
                  <a:tcPr/>
                </a:tc>
                <a:extLst>
                  <a:ext uri="{0D108BD9-81ED-4DB2-BD59-A6C34878D82A}">
                    <a16:rowId xmlns:a16="http://schemas.microsoft.com/office/drawing/2014/main" val="4220860257"/>
                  </a:ext>
                </a:extLst>
              </a:tr>
              <a:tr h="370840">
                <a:tc>
                  <a:txBody>
                    <a:bodyPr/>
                    <a:lstStyle/>
                    <a:p>
                      <a:r>
                        <a:rPr lang="en-GB" dirty="0"/>
                        <a:t>Quality</a:t>
                      </a:r>
                    </a:p>
                  </a:txBody>
                  <a:tcPr/>
                </a:tc>
                <a:tc>
                  <a:txBody>
                    <a:bodyPr/>
                    <a:lstStyle/>
                    <a:p>
                      <a:r>
                        <a:rPr lang="en-GB" i="1" dirty="0"/>
                        <a:t>A whole range of options:</a:t>
                      </a:r>
                    </a:p>
                    <a:p>
                      <a:r>
                        <a:rPr lang="en-GB" i="1" dirty="0"/>
                        <a:t>Precision, completeness, accuracy, </a:t>
                      </a:r>
                    </a:p>
                  </a:txBody>
                  <a:tcPr/>
                </a:tc>
                <a:extLst>
                  <a:ext uri="{0D108BD9-81ED-4DB2-BD59-A6C34878D82A}">
                    <a16:rowId xmlns:a16="http://schemas.microsoft.com/office/drawing/2014/main" val="2102848040"/>
                  </a:ext>
                </a:extLst>
              </a:tr>
              <a:tr h="370840">
                <a:tc>
                  <a:txBody>
                    <a:bodyPr/>
                    <a:lstStyle/>
                    <a:p>
                      <a:r>
                        <a:rPr lang="en-GB" dirty="0"/>
                        <a:t>Maintenance info</a:t>
                      </a:r>
                    </a:p>
                  </a:txBody>
                  <a:tcPr/>
                </a:tc>
                <a:tc>
                  <a:txBody>
                    <a:bodyPr/>
                    <a:lstStyle/>
                    <a:p>
                      <a:r>
                        <a:rPr lang="en-GB" i="0" dirty="0"/>
                        <a:t>e.g. frequency of update</a:t>
                      </a:r>
                    </a:p>
                  </a:txBody>
                  <a:tcPr/>
                </a:tc>
                <a:extLst>
                  <a:ext uri="{0D108BD9-81ED-4DB2-BD59-A6C34878D82A}">
                    <a16:rowId xmlns:a16="http://schemas.microsoft.com/office/drawing/2014/main" val="2758648688"/>
                  </a:ext>
                </a:extLst>
              </a:tr>
              <a:tr h="370840">
                <a:tc gridSpan="2">
                  <a:txBody>
                    <a:bodyPr/>
                    <a:lstStyle/>
                    <a:p>
                      <a:r>
                        <a:rPr lang="en-GB" i="1" dirty="0"/>
                        <a:t>And some ‘control’ stuff: metadata date, creator contact details, UUID metadata identifier….</a:t>
                      </a:r>
                    </a:p>
                  </a:txBody>
                  <a:tcPr/>
                </a:tc>
                <a:tc hMerge="1">
                  <a:txBody>
                    <a:bodyPr/>
                    <a:lstStyle/>
                    <a:p>
                      <a:endParaRPr lang="en-GB" i="0" dirty="0"/>
                    </a:p>
                  </a:txBody>
                  <a:tcPr/>
                </a:tc>
                <a:extLst>
                  <a:ext uri="{0D108BD9-81ED-4DB2-BD59-A6C34878D82A}">
                    <a16:rowId xmlns:a16="http://schemas.microsoft.com/office/drawing/2014/main" val="2828035444"/>
                  </a:ext>
                </a:extLst>
              </a:tr>
            </a:tbl>
          </a:graphicData>
        </a:graphic>
      </p:graphicFrame>
    </p:spTree>
    <p:extLst>
      <p:ext uri="{BB962C8B-B14F-4D97-AF65-F5344CB8AC3E}">
        <p14:creationId xmlns:p14="http://schemas.microsoft.com/office/powerpoint/2010/main" val="4077548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48FB9-DCB1-4E03-A1F3-757C96DCC40B}"/>
              </a:ext>
            </a:extLst>
          </p:cNvPr>
          <p:cNvSpPr>
            <a:spLocks noGrp="1"/>
          </p:cNvSpPr>
          <p:nvPr>
            <p:ph type="title"/>
          </p:nvPr>
        </p:nvSpPr>
        <p:spPr/>
        <p:txBody>
          <a:bodyPr/>
          <a:lstStyle/>
          <a:p>
            <a:r>
              <a:rPr lang="en-GB" dirty="0"/>
              <a:t>Who uses it?</a:t>
            </a:r>
          </a:p>
        </p:txBody>
      </p:sp>
      <p:sp>
        <p:nvSpPr>
          <p:cNvPr id="3" name="Content Placeholder 2">
            <a:extLst>
              <a:ext uri="{FF2B5EF4-FFF2-40B4-BE49-F238E27FC236}">
                <a16:creationId xmlns:a16="http://schemas.microsoft.com/office/drawing/2014/main" id="{D8060F70-17A5-4DEC-A63A-39D8B0B550FB}"/>
              </a:ext>
            </a:extLst>
          </p:cNvPr>
          <p:cNvSpPr>
            <a:spLocks noGrp="1"/>
          </p:cNvSpPr>
          <p:nvPr>
            <p:ph idx="1"/>
          </p:nvPr>
        </p:nvSpPr>
        <p:spPr/>
        <p:txBody>
          <a:bodyPr/>
          <a:lstStyle/>
          <a:p>
            <a:r>
              <a:rPr lang="en-GB" dirty="0"/>
              <a:t>Approximately half the records in data.gov.uk</a:t>
            </a:r>
          </a:p>
          <a:p>
            <a:r>
              <a:rPr lang="en-GB" dirty="0"/>
              <a:t>Over 300 metadata organisations (2017 count)</a:t>
            </a:r>
          </a:p>
          <a:p>
            <a:pPr lvl="1"/>
            <a:r>
              <a:rPr lang="en-GB" dirty="0"/>
              <a:t>Local authorities</a:t>
            </a:r>
          </a:p>
          <a:p>
            <a:pPr lvl="1"/>
            <a:r>
              <a:rPr lang="en-GB" dirty="0"/>
              <a:t>Central government bodies (RPA, Defra, MMO, EA,…)</a:t>
            </a:r>
          </a:p>
          <a:p>
            <a:pPr lvl="1"/>
            <a:r>
              <a:rPr lang="en-GB" dirty="0"/>
              <a:t>Arms length bodies (OS, BGS, UKHO, Met Office, police, Natural England, Highways Authority, CEFAS, BODC, …)</a:t>
            </a:r>
          </a:p>
          <a:p>
            <a:pPr lvl="1"/>
            <a:r>
              <a:rPr lang="en-GB" dirty="0"/>
              <a:t>Scottish Government</a:t>
            </a:r>
          </a:p>
          <a:p>
            <a:pPr lvl="1"/>
            <a:r>
              <a:rPr lang="en-GB" dirty="0"/>
              <a:t>Natural Resources Wales</a:t>
            </a:r>
          </a:p>
          <a:p>
            <a:pPr lvl="1"/>
            <a:r>
              <a:rPr lang="en-GB" dirty="0"/>
              <a:t>Universities, NERC</a:t>
            </a:r>
          </a:p>
          <a:p>
            <a:pPr lvl="1"/>
            <a:r>
              <a:rPr lang="en-GB" dirty="0"/>
              <a:t>Companies</a:t>
            </a:r>
          </a:p>
        </p:txBody>
      </p:sp>
    </p:spTree>
    <p:extLst>
      <p:ext uri="{BB962C8B-B14F-4D97-AF65-F5344CB8AC3E}">
        <p14:creationId xmlns:p14="http://schemas.microsoft.com/office/powerpoint/2010/main" val="3804814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CBC4D-EACF-4E1D-943C-2289E69668CA}"/>
              </a:ext>
            </a:extLst>
          </p:cNvPr>
          <p:cNvSpPr>
            <a:spLocks noGrp="1"/>
          </p:cNvSpPr>
          <p:nvPr>
            <p:ph type="title"/>
          </p:nvPr>
        </p:nvSpPr>
        <p:spPr/>
        <p:txBody>
          <a:bodyPr/>
          <a:lstStyle/>
          <a:p>
            <a:r>
              <a:rPr lang="en-GB" dirty="0"/>
              <a:t>Tools</a:t>
            </a:r>
          </a:p>
        </p:txBody>
      </p:sp>
      <p:sp>
        <p:nvSpPr>
          <p:cNvPr id="3" name="Content Placeholder 2">
            <a:extLst>
              <a:ext uri="{FF2B5EF4-FFF2-40B4-BE49-F238E27FC236}">
                <a16:creationId xmlns:a16="http://schemas.microsoft.com/office/drawing/2014/main" id="{77C429BD-24DA-4AD7-9570-1FC7B9761850}"/>
              </a:ext>
            </a:extLst>
          </p:cNvPr>
          <p:cNvSpPr>
            <a:spLocks noGrp="1"/>
          </p:cNvSpPr>
          <p:nvPr>
            <p:ph sz="half" idx="1"/>
          </p:nvPr>
        </p:nvSpPr>
        <p:spPr/>
        <p:txBody>
          <a:bodyPr>
            <a:normAutofit fontScale="92500" lnSpcReduction="10000"/>
          </a:bodyPr>
          <a:lstStyle/>
          <a:p>
            <a:pPr marL="0" indent="0">
              <a:buNone/>
            </a:pPr>
            <a:r>
              <a:rPr lang="en-GB" dirty="0"/>
              <a:t>GEMINI – UK specific</a:t>
            </a:r>
          </a:p>
          <a:p>
            <a:r>
              <a:rPr lang="en-GB" dirty="0"/>
              <a:t>Online</a:t>
            </a:r>
          </a:p>
          <a:p>
            <a:pPr lvl="1"/>
            <a:r>
              <a:rPr lang="en-GB" dirty="0"/>
              <a:t>UK Location Metadata Editor</a:t>
            </a:r>
          </a:p>
          <a:p>
            <a:pPr lvl="1"/>
            <a:r>
              <a:rPr lang="en-GB" dirty="0"/>
              <a:t>Scottish SDI</a:t>
            </a:r>
          </a:p>
          <a:p>
            <a:r>
              <a:rPr lang="en-GB" dirty="0"/>
              <a:t>Offline – server</a:t>
            </a:r>
          </a:p>
          <a:p>
            <a:pPr lvl="1"/>
            <a:r>
              <a:rPr lang="en-GB" dirty="0" err="1"/>
              <a:t>GeoNetwork</a:t>
            </a:r>
            <a:r>
              <a:rPr lang="en-GB" dirty="0"/>
              <a:t> Open Source</a:t>
            </a:r>
          </a:p>
          <a:p>
            <a:pPr lvl="1"/>
            <a:r>
              <a:rPr lang="en-GB" dirty="0"/>
              <a:t>ESRI ArcGIS</a:t>
            </a:r>
          </a:p>
          <a:p>
            <a:r>
              <a:rPr lang="en-GB" dirty="0"/>
              <a:t>Offline – “desktop”</a:t>
            </a:r>
          </a:p>
          <a:p>
            <a:pPr lvl="1"/>
            <a:r>
              <a:rPr lang="en-GB" dirty="0"/>
              <a:t>MEDIN metadata maestro</a:t>
            </a:r>
          </a:p>
        </p:txBody>
      </p:sp>
      <p:sp>
        <p:nvSpPr>
          <p:cNvPr id="4" name="Content Placeholder 3">
            <a:extLst>
              <a:ext uri="{FF2B5EF4-FFF2-40B4-BE49-F238E27FC236}">
                <a16:creationId xmlns:a16="http://schemas.microsoft.com/office/drawing/2014/main" id="{9D61D81D-9269-447E-A26D-337CD9079715}"/>
              </a:ext>
            </a:extLst>
          </p:cNvPr>
          <p:cNvSpPr>
            <a:spLocks noGrp="1"/>
          </p:cNvSpPr>
          <p:nvPr>
            <p:ph sz="half" idx="2"/>
          </p:nvPr>
        </p:nvSpPr>
        <p:spPr/>
        <p:txBody>
          <a:bodyPr>
            <a:normAutofit fontScale="92500" lnSpcReduction="10000"/>
          </a:bodyPr>
          <a:lstStyle/>
          <a:p>
            <a:pPr marL="0" indent="0">
              <a:buNone/>
            </a:pPr>
            <a:r>
              <a:rPr lang="en-GB" dirty="0"/>
              <a:t>World – ISO 19115 editors</a:t>
            </a:r>
          </a:p>
          <a:p>
            <a:r>
              <a:rPr lang="en-GB" dirty="0"/>
              <a:t>US </a:t>
            </a:r>
          </a:p>
          <a:p>
            <a:pPr lvl="1"/>
            <a:r>
              <a:rPr lang="en-GB" dirty="0"/>
              <a:t>Federal Geographic Data Commission</a:t>
            </a:r>
          </a:p>
          <a:p>
            <a:pPr lvl="1"/>
            <a:r>
              <a:rPr lang="en-GB" dirty="0"/>
              <a:t>EPA</a:t>
            </a:r>
          </a:p>
          <a:p>
            <a:r>
              <a:rPr lang="en-GB" dirty="0" err="1"/>
              <a:t>OSGeo</a:t>
            </a:r>
            <a:r>
              <a:rPr lang="en-GB" dirty="0"/>
              <a:t> (open source): </a:t>
            </a:r>
          </a:p>
          <a:p>
            <a:pPr lvl="1"/>
            <a:r>
              <a:rPr lang="en-GB" dirty="0"/>
              <a:t>16 at </a:t>
            </a:r>
            <a:r>
              <a:rPr lang="en-GB" dirty="0">
                <a:hlinkClick r:id="rId2"/>
              </a:rPr>
              <a:t>https://wiki.osgeo.org/wiki/Metadata_software</a:t>
            </a:r>
            <a:endParaRPr lang="en-GB" dirty="0"/>
          </a:p>
          <a:p>
            <a:r>
              <a:rPr lang="en-GB" dirty="0" err="1"/>
              <a:t>eENVPlus</a:t>
            </a:r>
            <a:r>
              <a:rPr lang="en-GB" dirty="0"/>
              <a:t> (EEA)</a:t>
            </a:r>
          </a:p>
          <a:p>
            <a:r>
              <a:rPr lang="en-GB" dirty="0"/>
              <a:t>ArcGIS Pro</a:t>
            </a:r>
          </a:p>
          <a:p>
            <a:r>
              <a:rPr lang="en-GB" dirty="0"/>
              <a:t>….</a:t>
            </a:r>
          </a:p>
          <a:p>
            <a:endParaRPr lang="en-GB" dirty="0"/>
          </a:p>
        </p:txBody>
      </p:sp>
    </p:spTree>
    <p:extLst>
      <p:ext uri="{BB962C8B-B14F-4D97-AF65-F5344CB8AC3E}">
        <p14:creationId xmlns:p14="http://schemas.microsoft.com/office/powerpoint/2010/main" val="1562122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621</Words>
  <Application>Microsoft Office PowerPoint</Application>
  <PresentationFormat>Widescreen</PresentationFormat>
  <Paragraphs>102</Paragraphs>
  <Slides>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Arial</vt:lpstr>
      <vt:lpstr>Calibri</vt:lpstr>
      <vt:lpstr>Calibri Light</vt:lpstr>
      <vt:lpstr>GDS Transport</vt:lpstr>
      <vt:lpstr>nta</vt:lpstr>
      <vt:lpstr>Office Theme</vt:lpstr>
      <vt:lpstr>What is GEMINI?</vt:lpstr>
      <vt:lpstr>PowerPoint Presentation</vt:lpstr>
      <vt:lpstr>Why did they say that?</vt:lpstr>
      <vt:lpstr>Is it still a good idea? What is GEMINI?</vt:lpstr>
      <vt:lpstr>So what’s in GEMINI?</vt:lpstr>
      <vt:lpstr>Who uses it?</vt:lpstr>
      <vt:lpstr>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GEMINI?</dc:title>
  <dc:creator>Peter Parslow</dc:creator>
  <cp:lastModifiedBy>Peter Parslow</cp:lastModifiedBy>
  <cp:revision>7</cp:revision>
  <dcterms:created xsi:type="dcterms:W3CDTF">2020-10-01T09:14:55Z</dcterms:created>
  <dcterms:modified xsi:type="dcterms:W3CDTF">2020-10-01T11:17:55Z</dcterms:modified>
</cp:coreProperties>
</file>